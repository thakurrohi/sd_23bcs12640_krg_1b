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94" r:id="rId17"/>
    <p:sldId id="295" r:id="rId18"/>
    <p:sldId id="296" r:id="rId19"/>
    <p:sldId id="271" r:id="rId20"/>
    <p:sldId id="272" r:id="rId21"/>
    <p:sldId id="273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75" r:id="rId41"/>
    <p:sldId id="274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6CE6-C42C-A66A-774E-7C5557E29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95F41-C3B0-6DD0-AF2E-E79CB36DF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8C044-D78D-1C5F-54C8-50541482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D7C0-DB2D-A6A6-1AB8-CA3B88911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2FC31-FF05-88A8-6FFE-AE652B02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99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3C85-9EDB-AB65-D5D0-A6DD1B9C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61A7-17FB-0893-1493-CDE21D9F2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2F9D4-892A-BE0D-C725-54FAA542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10172-DA23-E0A6-CEC1-6AB623BFF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8E6E-3F18-247A-CC32-9A490040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57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2521-77AC-A0C7-0629-87569D3E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5E16D-BD77-ADFB-381C-C3E213782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A252D-48E0-BDC1-0728-C58AE420B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60C9-8FB7-8077-307A-1F2B905E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3E5C5-C7CF-0A74-2F24-459FE459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26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F343-A6BC-0B4B-A64F-31F9F5E05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D16C-5419-8D1B-BB1D-026EB44D6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ED0DD-51AD-6F51-ACCF-7B572EC6A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6E169-F08F-B815-5BFC-88B14831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30DE4-957A-BDA2-36F8-3CFD67E8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4587E-B6BF-07F6-2796-D7F16DFB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70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24F5-9B91-7D37-9CCF-E75FCEAC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E272D-2BF5-0151-6E59-681ADC67B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2CBA4-D2B1-408C-011B-B0EA546B9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4275B-C8E4-D247-4CBC-D46D3939F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4B9522-877D-70A0-F1DE-A5770C123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25F88-7EE4-5E24-867B-435AD9FA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B3161B-6BD9-00AC-81D6-005BB48E7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F2ED58-4B84-3F15-D522-7AF82C78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6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BA6D-9925-E775-325B-9818B9B3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5E48D-E1CE-5623-BA8A-D763B6C5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05FB9-3E47-13AD-8251-79CC6AF9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3B419-50A0-B3C0-0F8E-78E9719C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16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13BEB-63D6-8C22-9354-5A8565BE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E1C18-3F06-A19A-18B6-FE95797C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5D8A9-F015-E3BE-9A86-37A25335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10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46DC-DF20-7394-D57C-780F5306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43FCD-3072-9ABC-07ED-5B6CFB9CB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CB9C3-A7C8-B2CB-CBDA-466EF51AF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4F62A-4047-2620-0FCC-52EE6DB8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8D5F6-1AF8-B5B0-0079-8E7370EC3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86984-058B-D7C4-2DB9-B87789099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56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FCA9-1BA7-67FA-4693-AC87FB62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92C83A-B87C-F990-6D35-B7B19A196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22F35-3B58-43ED-DB52-2EA4EC569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B117A-E99B-2297-6172-585E76910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444B8-B9DA-0FBA-30E3-BBE771B2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44489-42BE-D860-916F-A7A16851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20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AF78-5B93-8BB4-A3D4-32EA76F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C391F-787B-C8E4-E15E-6BBC5F42A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17A6-DC5F-5B2B-2E63-D1084718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25C43-FFCD-74CA-9A66-9E0664AD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217BA-AD36-8F67-925B-BA608790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7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63F051-2047-3AA7-77A7-14A7A46E9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3149F-EA26-9569-27B1-4FC2E01EA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56AC5-DB5F-C47E-9E00-96EB3893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8C83E-540A-93EA-2E1D-D8830C00B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06FA8-4DD9-68F1-0338-9CF5E393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167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8A9561-4CE4-78CC-5984-79CEFD490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04718-A2F8-A60B-C091-CC7AF9C4F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6DE24-A840-1BB0-B279-56CAFCC21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D930A-2060-49FC-922B-596A6F440315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8CB5F-96A4-C36E-3CE3-9CA318434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F4740-B26E-059C-B408-B2903A6EC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2177D-8399-48E7-9B36-C24454EC08B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DE8DF8-64D6-7163-D0AF-C5CED389903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21" y="-57572"/>
            <a:ext cx="11320757" cy="799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70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AE36-826A-44A4-1674-41E7C88BDF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Unit-I</a:t>
            </a:r>
            <a:br>
              <a:rPr lang="en-US" dirty="0"/>
            </a:br>
            <a:r>
              <a:rPr lang="en-US" dirty="0"/>
              <a:t>Chapter 02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E0F1F-5FE2-8F40-3A8B-77EBD12E32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System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99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A447-24C5-12B3-99C6-5F07B8C8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515"/>
            <a:ext cx="10515600" cy="469064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F4955-2C64-BDEC-DDF2-952361A4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OOP Fundamentals </a:t>
            </a:r>
          </a:p>
          <a:p>
            <a:r>
              <a:rPr lang="en-IN" dirty="0"/>
              <a:t>Classes and Objects </a:t>
            </a:r>
          </a:p>
          <a:p>
            <a:r>
              <a:rPr lang="en-IN" dirty="0"/>
              <a:t>Enums</a:t>
            </a:r>
          </a:p>
          <a:p>
            <a:r>
              <a:rPr lang="en-IN" dirty="0"/>
              <a:t>Interfaces </a:t>
            </a:r>
          </a:p>
          <a:p>
            <a:r>
              <a:rPr lang="en-IN" dirty="0"/>
              <a:t>Encapsulation </a:t>
            </a:r>
          </a:p>
          <a:p>
            <a:r>
              <a:rPr lang="en-IN" dirty="0"/>
              <a:t>Abstraction</a:t>
            </a:r>
          </a:p>
          <a:p>
            <a:r>
              <a:rPr lang="en-IN" dirty="0"/>
              <a:t>Inheritance </a:t>
            </a:r>
          </a:p>
          <a:p>
            <a:r>
              <a:rPr lang="en-IN" dirty="0"/>
              <a:t>Polymorphism) </a:t>
            </a:r>
          </a:p>
          <a:p>
            <a:r>
              <a:rPr lang="en-IN" dirty="0"/>
              <a:t>Class Relationships ( Association, Aggregation, Composition, Dependency).</a:t>
            </a:r>
          </a:p>
        </p:txBody>
      </p:sp>
    </p:spTree>
    <p:extLst>
      <p:ext uri="{BB962C8B-B14F-4D97-AF65-F5344CB8AC3E}">
        <p14:creationId xmlns:p14="http://schemas.microsoft.com/office/powerpoint/2010/main" val="388099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20AD2E-9C8D-7F2E-5F74-4A36764D6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495" y="657726"/>
            <a:ext cx="9480883" cy="606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97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1033-AB42-EE09-D65A-3078CCA7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 - INTRODUCTION</a:t>
            </a:r>
            <a:endParaRPr lang="en-IN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56683426-A536-D035-3318-1497CBBA42DC}"/>
              </a:ext>
            </a:extLst>
          </p:cNvPr>
          <p:cNvSpPr txBox="1"/>
          <p:nvPr/>
        </p:nvSpPr>
        <p:spPr>
          <a:xfrm>
            <a:off x="598133" y="1958004"/>
            <a:ext cx="9989656" cy="394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dirty="0"/>
              <a:t>Object-Oriented Programming (OOP) is a programming paradigm that models software systems using real-world entities.</a:t>
            </a:r>
            <a:br>
              <a:rPr lang="en-IN" dirty="0"/>
            </a:br>
            <a:r>
              <a:rPr lang="en-IN" dirty="0"/>
              <a:t>Instead of focusing only on functions and logic, OOP focuses on </a:t>
            </a:r>
            <a:r>
              <a:rPr lang="en-IN" b="1" dirty="0"/>
              <a:t>objects</a:t>
            </a:r>
            <a:r>
              <a:rPr lang="en-IN" dirty="0"/>
              <a:t> that contain both </a:t>
            </a:r>
            <a:r>
              <a:rPr lang="en-IN" b="1" dirty="0"/>
              <a:t>data</a:t>
            </a:r>
            <a:r>
              <a:rPr lang="en-IN" dirty="0"/>
              <a:t> and </a:t>
            </a:r>
            <a:r>
              <a:rPr lang="en-IN" b="1" dirty="0"/>
              <a:t>behaviour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OOP helps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Managing large and complex software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Improving code reusability and maintainability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Building scalable and modular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Aligning software design with real-world problem solving</a:t>
            </a:r>
          </a:p>
          <a:p>
            <a:endParaRPr lang="en-IN" dirty="0"/>
          </a:p>
          <a:p>
            <a:r>
              <a:rPr lang="en-IN" dirty="0"/>
              <a:t>OOP concepts form the </a:t>
            </a:r>
            <a:r>
              <a:rPr lang="en-IN" b="1" dirty="0"/>
              <a:t>foundation of Low-Level Design (LLD)</a:t>
            </a:r>
            <a:r>
              <a:rPr lang="en-IN" dirty="0"/>
              <a:t> and are widely used in enterprise systems, backend services, and system design interviews.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8927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4830A-D6F9-84A1-2416-2AD8BEA4D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2851"/>
            <a:ext cx="10515600" cy="51719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What is a Class?</a:t>
            </a:r>
            <a:b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F48D1B08-37AA-4621-50DB-A820AC5A7E75}"/>
              </a:ext>
            </a:extLst>
          </p:cNvPr>
          <p:cNvSpPr txBox="1"/>
          <p:nvPr/>
        </p:nvSpPr>
        <p:spPr>
          <a:xfrm>
            <a:off x="838200" y="1669246"/>
            <a:ext cx="8600243" cy="4448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900" dirty="0"/>
              <a:t>A </a:t>
            </a:r>
            <a:r>
              <a:rPr lang="en-IN" sz="1900" b="1" dirty="0"/>
              <a:t>class</a:t>
            </a:r>
            <a:r>
              <a:rPr lang="en-IN" sz="1900" dirty="0"/>
              <a:t> is a blueprint or template used to create objects.</a:t>
            </a:r>
            <a:br>
              <a:rPr lang="en-IN" sz="1900" dirty="0"/>
            </a:br>
            <a:r>
              <a:rPr lang="en-IN" sz="1900" dirty="0"/>
              <a:t>It defines: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/>
              <a:t>Attributes (data members)</a:t>
            </a:r>
            <a:r>
              <a:rPr lang="en-IN" sz="1900" dirty="0"/>
              <a:t> – what an object knows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b="1" dirty="0"/>
              <a:t>Methods (member functions)</a:t>
            </a:r>
            <a:r>
              <a:rPr lang="en-IN" sz="1900" dirty="0"/>
              <a:t> – what an object can do</a:t>
            </a:r>
          </a:p>
          <a:p>
            <a:endParaRPr lang="en-IN" sz="1900" dirty="0"/>
          </a:p>
          <a:p>
            <a:r>
              <a:rPr lang="en-IN" sz="1900" dirty="0"/>
              <a:t>A class does </a:t>
            </a:r>
            <a:r>
              <a:rPr lang="en-IN" sz="1900" b="1" dirty="0"/>
              <a:t>not</a:t>
            </a:r>
            <a:r>
              <a:rPr lang="en-IN" sz="1900" dirty="0"/>
              <a:t> occupy memory by itself. Memory is allocated only when an object is created from the class.</a:t>
            </a:r>
          </a:p>
          <a:p>
            <a:endParaRPr lang="en-IN" sz="1900" dirty="0"/>
          </a:p>
          <a:p>
            <a:r>
              <a:rPr lang="en-IN" sz="1900" dirty="0"/>
              <a:t>Example (Conceptual):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Class: 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Attributes: name, </a:t>
            </a:r>
            <a:r>
              <a:rPr lang="en-IN" sz="1900" dirty="0" err="1"/>
              <a:t>rollNumber</a:t>
            </a:r>
            <a:r>
              <a:rPr lang="en-IN" sz="1900" dirty="0"/>
              <a:t>, marks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Methods: </a:t>
            </a:r>
            <a:r>
              <a:rPr lang="en-IN" sz="1900" dirty="0" err="1"/>
              <a:t>calculateGrade</a:t>
            </a:r>
            <a:r>
              <a:rPr lang="en-IN" sz="1900" dirty="0"/>
              <a:t>(), </a:t>
            </a:r>
            <a:r>
              <a:rPr lang="en-IN" sz="1900" dirty="0" err="1"/>
              <a:t>displayDetails</a:t>
            </a:r>
            <a:r>
              <a:rPr lang="en-IN" sz="1900" dirty="0"/>
              <a:t>()</a:t>
            </a:r>
          </a:p>
          <a:p>
            <a:br>
              <a:rPr lang="en-IN" sz="1900" dirty="0"/>
            </a:br>
            <a:endParaRPr lang="en-IN" sz="1900"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9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854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C97B-73A2-8EB9-EF05-870FFB39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7326"/>
            <a:ext cx="10515600" cy="6416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Why Classes Are Important</a:t>
            </a:r>
            <a:b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EB54425C-8BBB-2275-CD36-0ECF2BEAFC22}"/>
              </a:ext>
            </a:extLst>
          </p:cNvPr>
          <p:cNvSpPr txBox="1"/>
          <p:nvPr/>
        </p:nvSpPr>
        <p:spPr>
          <a:xfrm>
            <a:off x="838200" y="1794726"/>
            <a:ext cx="8600243" cy="40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/>
              <a:t>Classes help in organizing code into logical units.</a:t>
            </a:r>
          </a:p>
          <a:p>
            <a:endParaRPr lang="en-IN" sz="2000" dirty="0"/>
          </a:p>
          <a:p>
            <a:r>
              <a:rPr lang="en-IN" sz="2000" b="1" dirty="0"/>
              <a:t>Benefits of using classes: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Code becomes modular and structured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Changes in one class do not affect the entire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Easier debugging and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Supports real-world modelling</a:t>
            </a:r>
          </a:p>
          <a:p>
            <a:endParaRPr lang="en-IN" sz="2000" dirty="0"/>
          </a:p>
          <a:p>
            <a:r>
              <a:rPr lang="en-IN" sz="2000" dirty="0"/>
              <a:t>In large systems like </a:t>
            </a:r>
            <a:r>
              <a:rPr lang="en-IN" sz="2000" b="1" dirty="0"/>
              <a:t>banking software, ERP systems, and e-commerce platforms</a:t>
            </a:r>
            <a:r>
              <a:rPr lang="en-IN" sz="2000" dirty="0"/>
              <a:t>, classes represent domain entities such as User, Order, Payment, Product, etc.</a:t>
            </a:r>
          </a:p>
          <a:p>
            <a:br>
              <a:rPr lang="en-IN" sz="2000" dirty="0"/>
            </a:br>
            <a:endParaRPr lang="en-IN" sz="2000"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888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C91A-FD7B-D1C3-66C2-13C0BD60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894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What is an Object?</a:t>
            </a:r>
            <a:b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D21870CF-DF87-0BB0-5A46-76A3FDE84362}"/>
              </a:ext>
            </a:extLst>
          </p:cNvPr>
          <p:cNvSpPr txBox="1"/>
          <p:nvPr/>
        </p:nvSpPr>
        <p:spPr>
          <a:xfrm>
            <a:off x="838200" y="1508825"/>
            <a:ext cx="8600243" cy="448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dirty="0"/>
              <a:t>An </a:t>
            </a:r>
            <a:r>
              <a:rPr lang="en-IN" sz="2400" b="1" dirty="0"/>
              <a:t>object</a:t>
            </a:r>
            <a:r>
              <a:rPr lang="en-IN" sz="2400" dirty="0"/>
              <a:t> is an instance of a class.</a:t>
            </a:r>
            <a:br>
              <a:rPr lang="en-IN" sz="2400" dirty="0"/>
            </a:br>
            <a:r>
              <a:rPr lang="en-IN" sz="2400" dirty="0"/>
              <a:t>It represents a real-world entity and occupies memory.</a:t>
            </a:r>
          </a:p>
          <a:p>
            <a:endParaRPr lang="en-IN" sz="2400" dirty="0"/>
          </a:p>
          <a:p>
            <a:r>
              <a:rPr lang="en-IN" sz="2400" dirty="0"/>
              <a:t>If a class is a blueprint, an object is the </a:t>
            </a:r>
            <a:r>
              <a:rPr lang="en-IN" sz="2400" b="1" dirty="0"/>
              <a:t>actual thing built using that blueprint</a:t>
            </a:r>
            <a:r>
              <a:rPr lang="en-IN" sz="2400" dirty="0"/>
              <a:t>.</a:t>
            </a:r>
          </a:p>
          <a:p>
            <a:r>
              <a:rPr lang="en-IN" sz="24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Class: Car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Objects: Car1 (Red, 60 km/h), Car2 (Blue, 80 km/h)</a:t>
            </a:r>
          </a:p>
          <a:p>
            <a:endParaRPr lang="en-IN" sz="2400" dirty="0"/>
          </a:p>
          <a:p>
            <a:r>
              <a:rPr lang="en-IN" sz="2400" dirty="0"/>
              <a:t>Each object has its own data but follows the same structure defined by the class.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526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C53C-665B-8F0D-8304-EC854779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8568"/>
            <a:ext cx="10515600" cy="3110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Characteristics of an Object</a:t>
            </a:r>
            <a:b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5A69D021-4667-FAF4-058F-D22BC2D83CBF}"/>
              </a:ext>
            </a:extLst>
          </p:cNvPr>
          <p:cNvSpPr txBox="1"/>
          <p:nvPr/>
        </p:nvSpPr>
        <p:spPr>
          <a:xfrm>
            <a:off x="838200" y="1637162"/>
            <a:ext cx="8600243" cy="301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dirty="0"/>
              <a:t>Every object has three main 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Identity</a:t>
            </a:r>
            <a:r>
              <a:rPr lang="en-IN" sz="2400" dirty="0"/>
              <a:t> – uniquely identifies the object in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State</a:t>
            </a:r>
            <a:r>
              <a:rPr lang="en-IN" sz="2400" dirty="0"/>
              <a:t> – current values of its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 err="1"/>
              <a:t>Behavior</a:t>
            </a:r>
            <a:r>
              <a:rPr lang="en-IN" sz="2400" dirty="0"/>
              <a:t> – actions performed using methods</a:t>
            </a:r>
          </a:p>
          <a:p>
            <a:endParaRPr lang="en-IN" sz="2400" dirty="0"/>
          </a:p>
          <a:p>
            <a:r>
              <a:rPr lang="en-IN" sz="2400" dirty="0"/>
              <a:t>Objects interact with each other by calling methods, which forms the basis of </a:t>
            </a:r>
            <a:r>
              <a:rPr lang="en-IN" sz="2400" b="1" dirty="0"/>
              <a:t>object collaboration</a:t>
            </a:r>
            <a:r>
              <a:rPr lang="en-IN" sz="2400" dirty="0"/>
              <a:t> in software systems.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92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ECA74-6155-A100-6610-B80EACE8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0F1B-E116-F638-A33D-F585E0F1E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5762"/>
            <a:ext cx="10515600" cy="3110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Abstraction – Core Concept</a:t>
            </a:r>
            <a:b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0F094DC5-E22F-D70C-DC83-3FE8B2665B56}"/>
              </a:ext>
            </a:extLst>
          </p:cNvPr>
          <p:cNvSpPr txBox="1"/>
          <p:nvPr/>
        </p:nvSpPr>
        <p:spPr>
          <a:xfrm>
            <a:off x="838200" y="1765498"/>
            <a:ext cx="8600243" cy="4856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Abstraction</a:t>
            </a:r>
            <a:r>
              <a:rPr lang="en-IN" sz="2400" dirty="0"/>
              <a:t> means showing only the essential features and hiding the internal implementation details.</a:t>
            </a:r>
          </a:p>
          <a:p>
            <a:endParaRPr lang="en-IN" sz="2400" dirty="0"/>
          </a:p>
          <a:p>
            <a:r>
              <a:rPr lang="en-IN" sz="2400" b="1" dirty="0"/>
              <a:t>It answers the question:</a:t>
            </a:r>
          </a:p>
          <a:p>
            <a:r>
              <a:rPr lang="en-IN" sz="2400" i="1" dirty="0"/>
              <a:t>What does the object do?</a:t>
            </a:r>
            <a:br>
              <a:rPr lang="en-IN" sz="2400" dirty="0"/>
            </a:br>
            <a:r>
              <a:rPr lang="en-IN" sz="2400" dirty="0"/>
              <a:t>not</a:t>
            </a:r>
            <a:br>
              <a:rPr lang="en-IN" sz="2400" dirty="0"/>
            </a:br>
            <a:r>
              <a:rPr lang="en-IN" sz="2400" i="1" dirty="0"/>
              <a:t>How does the object do it?</a:t>
            </a:r>
          </a:p>
          <a:p>
            <a:endParaRPr lang="en-IN" sz="2400" dirty="0"/>
          </a:p>
          <a:p>
            <a:r>
              <a:rPr lang="en-IN" sz="24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 user can use an ATM to withdraw cash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user does not know how authentication or cash counting works internally</a:t>
            </a: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7029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89FA-6ABA-66F3-E7F9-D1148F42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6930-A124-A022-C531-8D1950BD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5762"/>
            <a:ext cx="10515600" cy="3110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Why Abstraction is Important</a:t>
            </a:r>
            <a:b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IN" dirty="0"/>
          </a:p>
        </p:txBody>
      </p:sp>
      <p:sp>
        <p:nvSpPr>
          <p:cNvPr id="8" name="Google Shape;113;p2">
            <a:extLst>
              <a:ext uri="{FF2B5EF4-FFF2-40B4-BE49-F238E27FC236}">
                <a16:creationId xmlns:a16="http://schemas.microsoft.com/office/drawing/2014/main" id="{5DAF13EA-856D-7ACB-9248-8D7A0F45CC59}"/>
              </a:ext>
            </a:extLst>
          </p:cNvPr>
          <p:cNvSpPr txBox="1"/>
          <p:nvPr/>
        </p:nvSpPr>
        <p:spPr>
          <a:xfrm>
            <a:off x="967102" y="1671616"/>
            <a:ext cx="8600243" cy="522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dirty="0"/>
              <a:t>Benefits of abstraction: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Reduces system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Improves security by hiding sensitive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Allows developers to focus on high-level </a:t>
            </a:r>
            <a:r>
              <a:rPr lang="en-IN" sz="2400" dirty="0" err="1"/>
              <a:t>behavior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Makes systems easier to maintain and extend</a:t>
            </a:r>
          </a:p>
          <a:p>
            <a:endParaRPr lang="en-IN" sz="2400" dirty="0"/>
          </a:p>
          <a:p>
            <a:r>
              <a:rPr lang="en-IN" sz="2400" dirty="0"/>
              <a:t>In programming, abstraction is commonly achieved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Abstract classes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Interfaces</a:t>
            </a:r>
          </a:p>
          <a:p>
            <a:endParaRPr lang="en-IN" sz="2400" dirty="0"/>
          </a:p>
          <a:p>
            <a:r>
              <a:rPr lang="en-IN" sz="2400" dirty="0"/>
              <a:t>Abstraction is heavily used in </a:t>
            </a:r>
            <a:r>
              <a:rPr lang="en-IN" sz="2400" b="1" dirty="0"/>
              <a:t>API design and system architecture</a:t>
            </a:r>
            <a:r>
              <a:rPr lang="en-IN" sz="2400" dirty="0"/>
              <a:t>.</a:t>
            </a:r>
          </a:p>
          <a:p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020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04685-E772-B45F-FF4C-AC789138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74A7A-C8E6-44AB-4874-99D40C68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Encapsulation – Core Concept</a:t>
            </a:r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187F3619-39F7-DEE5-B94E-D138535CDFB5}"/>
              </a:ext>
            </a:extLst>
          </p:cNvPr>
          <p:cNvSpPr txBox="1"/>
          <p:nvPr/>
        </p:nvSpPr>
        <p:spPr>
          <a:xfrm>
            <a:off x="838200" y="1765499"/>
            <a:ext cx="8600243" cy="4856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Encapsulation</a:t>
            </a:r>
            <a:r>
              <a:rPr lang="en-IN" sz="2400" dirty="0"/>
              <a:t> is the process of bundling data (variables) and methods (functions) into a single unit (class) and restricting direct access to the data.</a:t>
            </a:r>
          </a:p>
          <a:p>
            <a:endParaRPr lang="en-IN" sz="2400" dirty="0"/>
          </a:p>
          <a:p>
            <a:r>
              <a:rPr lang="en-IN" sz="2400" dirty="0"/>
              <a:t>It ensures that object data can be accessed or modified only through controlled methods.</a:t>
            </a:r>
          </a:p>
          <a:p>
            <a:r>
              <a:rPr lang="en-IN" sz="2400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Private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Public getter and setter methods</a:t>
            </a:r>
          </a:p>
          <a:p>
            <a:endParaRPr lang="en-IN" sz="2400" dirty="0"/>
          </a:p>
          <a:p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6427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39DD-CDB0-BF7B-E68D-C28BA2AD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4455-7C1F-411D-0046-47167CDF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Advantages of Encapsulation</a:t>
            </a:r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0A0858E9-6CBA-4A39-3D6F-9667E6A0F2AD}"/>
              </a:ext>
            </a:extLst>
          </p:cNvPr>
          <p:cNvSpPr txBox="1"/>
          <p:nvPr/>
        </p:nvSpPr>
        <p:spPr>
          <a:xfrm>
            <a:off x="838200" y="1669246"/>
            <a:ext cx="8600243" cy="411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Encapsulation provides</a:t>
            </a:r>
            <a:r>
              <a:rPr lang="en-IN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 protection and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Controlled access to internal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Better modularity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Easier debugging and testing</a:t>
            </a:r>
          </a:p>
          <a:p>
            <a:endParaRPr lang="en-IN" sz="2400" dirty="0"/>
          </a:p>
          <a:p>
            <a:r>
              <a:rPr lang="en-IN" sz="2400" dirty="0"/>
              <a:t>Encapsulation helps prevent accidental modification of critical data and enforces business rules inside the class.</a:t>
            </a:r>
          </a:p>
          <a:p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3874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201A-248C-0E2B-54CA-32215321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471B-12A8-AF1A-A016-FB402989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Interface - Definition</a:t>
            </a:r>
            <a:endParaRPr lang="en-IN" sz="54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B4FD08A7-AC7E-61CA-58CA-AAE6D3E7B959}"/>
              </a:ext>
            </a:extLst>
          </p:cNvPr>
          <p:cNvSpPr txBox="1"/>
          <p:nvPr/>
        </p:nvSpPr>
        <p:spPr>
          <a:xfrm>
            <a:off x="951059" y="1540909"/>
            <a:ext cx="8600243" cy="4856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dirty="0"/>
              <a:t>An </a:t>
            </a:r>
            <a:r>
              <a:rPr lang="en-IN" sz="2400" b="1" dirty="0"/>
              <a:t>interface</a:t>
            </a:r>
            <a:r>
              <a:rPr lang="en-IN" sz="2400" dirty="0"/>
              <a:t> defines a contract that a class must follow.</a:t>
            </a:r>
          </a:p>
          <a:p>
            <a:endParaRPr lang="en-IN" sz="2400" dirty="0"/>
          </a:p>
          <a:p>
            <a:r>
              <a:rPr lang="en-IN" sz="2400" b="1" dirty="0"/>
              <a:t>It specifies: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What methods a class should implement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Not how those methods are implemented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Interfaces contain method declarations only (high-level design).</a:t>
            </a:r>
          </a:p>
          <a:p>
            <a:endParaRPr lang="en-IN" sz="2400" dirty="0"/>
          </a:p>
          <a:p>
            <a:r>
              <a:rPr lang="en-IN" sz="2400" b="1" dirty="0"/>
              <a:t>Example (Conceptual):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Interface: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Methods: pay(), refund()</a:t>
            </a:r>
          </a:p>
          <a:p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4117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1A2C0-A205-FE88-772C-C0C5D56C5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CEC6-14FD-E036-1EDC-E0FE3603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Why Interfaces are Important?</a:t>
            </a:r>
            <a:endParaRPr lang="en-IN" sz="5400" b="1" dirty="0"/>
          </a:p>
        </p:txBody>
      </p:sp>
      <p:sp>
        <p:nvSpPr>
          <p:cNvPr id="8" name="Google Shape;113;p2">
            <a:extLst>
              <a:ext uri="{FF2B5EF4-FFF2-40B4-BE49-F238E27FC236}">
                <a16:creationId xmlns:a16="http://schemas.microsoft.com/office/drawing/2014/main" id="{71B85625-E553-A78D-25C7-AD1BE04AF883}"/>
              </a:ext>
            </a:extLst>
          </p:cNvPr>
          <p:cNvSpPr txBox="1"/>
          <p:nvPr/>
        </p:nvSpPr>
        <p:spPr>
          <a:xfrm>
            <a:off x="999185" y="1958004"/>
            <a:ext cx="8600243" cy="559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Interfaces enable: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Loose coupling between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Multiple inheritance (in languages like 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Plug-and-play architecture</a:t>
            </a:r>
          </a:p>
          <a:p>
            <a:endParaRPr lang="en-IN" sz="2400" dirty="0"/>
          </a:p>
          <a:p>
            <a:r>
              <a:rPr lang="en-IN" sz="2400" b="1" dirty="0"/>
              <a:t>In real systems, interfaces are widely used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Microservices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API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Dependency Injection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Frameworks like Spring Boot</a:t>
            </a:r>
          </a:p>
          <a:p>
            <a:endParaRPr lang="en-IN" sz="2400" dirty="0"/>
          </a:p>
          <a:p>
            <a:r>
              <a:rPr lang="en-IN" sz="2400" dirty="0"/>
              <a:t>Interfaces make systems flexible and easy to extend.</a:t>
            </a:r>
          </a:p>
          <a:p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6991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C1FAE-4602-C7F6-590E-88AB33DEE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DB72C-292F-3672-49D5-00E880FD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Enums - Definition</a:t>
            </a:r>
            <a:endParaRPr lang="en-IN" sz="54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225E738E-DA15-5685-8A44-CFF440CA74AC}"/>
              </a:ext>
            </a:extLst>
          </p:cNvPr>
          <p:cNvSpPr txBox="1"/>
          <p:nvPr/>
        </p:nvSpPr>
        <p:spPr>
          <a:xfrm>
            <a:off x="1079396" y="1653082"/>
            <a:ext cx="922917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dirty="0"/>
              <a:t>An </a:t>
            </a:r>
            <a:r>
              <a:rPr lang="en-IN" b="1" dirty="0"/>
              <a:t>Enum (Enumeration)</a:t>
            </a:r>
            <a:r>
              <a:rPr lang="en-IN" dirty="0"/>
              <a:t> is a special data type that represents a fixed set of constant values.</a:t>
            </a:r>
          </a:p>
          <a:p>
            <a:endParaRPr lang="en-IN" dirty="0"/>
          </a:p>
          <a:p>
            <a:r>
              <a:rPr lang="en-IN" b="1" dirty="0"/>
              <a:t>Example:</a:t>
            </a:r>
          </a:p>
          <a:p>
            <a:r>
              <a:rPr lang="en-IN" dirty="0"/>
              <a:t>OrderStatus: CREATED, SHIPPED, DELIVERED, CANCELLED</a:t>
            </a:r>
          </a:p>
          <a:p>
            <a:endParaRPr lang="en-IN" dirty="0"/>
          </a:p>
          <a:p>
            <a:r>
              <a:rPr lang="en-IN" dirty="0"/>
              <a:t>Enums restrict values to a predefined list, preventing invalid data entry.</a:t>
            </a:r>
          </a:p>
          <a:p>
            <a:endParaRPr lang="en-IN" dirty="0"/>
          </a:p>
          <a:p>
            <a:r>
              <a:rPr lang="en-IN" b="1" dirty="0"/>
              <a:t>Slide 13: Why Enums Are Used</a:t>
            </a:r>
          </a:p>
          <a:p>
            <a:r>
              <a:rPr lang="en-IN" dirty="0"/>
              <a:t>Advantages of </a:t>
            </a:r>
            <a:r>
              <a:rPr lang="en-IN" dirty="0" err="1"/>
              <a:t>enums</a:t>
            </a:r>
            <a:r>
              <a:rPr lang="en-IN" dirty="0"/>
              <a:t>:</a:t>
            </a:r>
          </a:p>
          <a:p>
            <a:r>
              <a:rPr lang="en-IN" dirty="0"/>
              <a:t>Improves code readability</a:t>
            </a:r>
          </a:p>
          <a:p>
            <a:r>
              <a:rPr lang="en-IN" dirty="0"/>
              <a:t>Avoids magic numbers and strings</a:t>
            </a:r>
          </a:p>
          <a:p>
            <a:r>
              <a:rPr lang="en-IN" dirty="0"/>
              <a:t>Prevents invalid values</a:t>
            </a:r>
          </a:p>
          <a:p>
            <a:r>
              <a:rPr lang="en-IN" dirty="0"/>
              <a:t>Used in workflows and state machines</a:t>
            </a:r>
          </a:p>
          <a:p>
            <a:r>
              <a:rPr lang="en-IN" dirty="0"/>
              <a:t>Enums are commonly used in:</a:t>
            </a:r>
          </a:p>
          <a:p>
            <a:r>
              <a:rPr lang="en-IN" dirty="0"/>
              <a:t>Order processing systems</a:t>
            </a:r>
          </a:p>
          <a:p>
            <a:r>
              <a:rPr lang="en-IN" dirty="0"/>
              <a:t>Payment status tracking</a:t>
            </a:r>
          </a:p>
          <a:p>
            <a:r>
              <a:rPr lang="en-IN" dirty="0"/>
              <a:t>User roles and permissions</a:t>
            </a:r>
          </a:p>
        </p:txBody>
      </p:sp>
    </p:spTree>
    <p:extLst>
      <p:ext uri="{BB962C8B-B14F-4D97-AF65-F5344CB8AC3E}">
        <p14:creationId xmlns:p14="http://schemas.microsoft.com/office/powerpoint/2010/main" val="1089787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7F880-0F31-BB70-1E26-AE02CDD7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A78B-1684-0A13-2A85-97C18AB6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Problem – without </a:t>
            </a:r>
            <a:r>
              <a:rPr lang="en-US" sz="5400" b="1" dirty="0" err="1">
                <a:latin typeface="Calibri" panose="020F0502020204030204" pitchFamily="34" charset="0"/>
                <a:cs typeface="Calibri" panose="020F0502020204030204" pitchFamily="34" charset="0"/>
              </a:rPr>
              <a:t>enum</a:t>
            </a:r>
            <a:endParaRPr lang="en-IN" sz="5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CA288E-86C6-2CE9-7AA3-65DC70A8502F}"/>
              </a:ext>
            </a:extLst>
          </p:cNvPr>
          <p:cNvSpPr txBox="1"/>
          <p:nvPr/>
        </p:nvSpPr>
        <p:spPr>
          <a:xfrm>
            <a:off x="838200" y="1597943"/>
            <a:ext cx="3894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Suppose we store order status like this: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0FD1BC-8C15-7227-D85B-2E8287E12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2" y="2055809"/>
            <a:ext cx="3541295" cy="546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3A67D2-7DED-8537-31D9-648E3175575F}"/>
              </a:ext>
            </a:extLst>
          </p:cNvPr>
          <p:cNvSpPr txBox="1"/>
          <p:nvPr/>
        </p:nvSpPr>
        <p:spPr>
          <a:xfrm>
            <a:off x="838200" y="2905193"/>
            <a:ext cx="2294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Someone may write: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B53D2B-478C-E558-4E11-3AC516315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4263189" cy="9018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F385A2-832A-A06F-9E05-2B44EC297503}"/>
              </a:ext>
            </a:extLst>
          </p:cNvPr>
          <p:cNvSpPr txBox="1"/>
          <p:nvPr/>
        </p:nvSpPr>
        <p:spPr>
          <a:xfrm>
            <a:off x="838200" y="4611000"/>
            <a:ext cx="38942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 Program </a:t>
            </a:r>
            <a:r>
              <a:rPr lang="en-US" b="1" dirty="0"/>
              <a:t>will not stop this.</a:t>
            </a:r>
            <a:br>
              <a:rPr lang="en-US" b="1" dirty="0"/>
            </a:br>
            <a:r>
              <a:rPr lang="en-US" dirty="0"/>
              <a:t>Program may behave wrongly.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is where ENUMS comes into </a:t>
            </a:r>
            <a:br>
              <a:rPr lang="en-US" dirty="0"/>
            </a:br>
            <a:r>
              <a:rPr lang="en-US" dirty="0"/>
              <a:t>picture.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7873B2-958A-E9C1-5AA5-D7474E535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008" y="1662255"/>
            <a:ext cx="3707065" cy="21550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D800BF-1CD3-FC1A-7FD4-0D1698C12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008" y="3941776"/>
            <a:ext cx="4395537" cy="7782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AD7301-4564-E7C3-817E-CAF205A67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008" y="5477598"/>
            <a:ext cx="3564259" cy="9109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966CDE-08C8-00F0-2B70-C7B8CED413D8}"/>
              </a:ext>
            </a:extLst>
          </p:cNvPr>
          <p:cNvSpPr txBox="1"/>
          <p:nvPr/>
        </p:nvSpPr>
        <p:spPr>
          <a:xfrm>
            <a:off x="6514429" y="5011078"/>
            <a:ext cx="5452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not allowed now, Java will handle automatically.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697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49F06-B8E9-C2D3-1B9F-18FCD93A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13A3-55F8-7625-B72E-D79216AC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  <a:endParaRPr lang="en-IN" sz="5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C1270-6D3A-5D67-BE51-ABFBFFEB7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94" y="1517646"/>
            <a:ext cx="3074686" cy="1629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CEECFE-B460-D560-5DF7-91108EB81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94" y="3382258"/>
            <a:ext cx="3331359" cy="5961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C0A52A-62CE-4E79-39F0-5DB06DCF8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224" y="4216247"/>
            <a:ext cx="3331359" cy="17168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12989A-801F-1446-6D48-E0C1B4C11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093" y="6124713"/>
            <a:ext cx="3331359" cy="59692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42A5FE3-080D-11AB-DD4F-DCA98DB976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2138" y="1457401"/>
            <a:ext cx="2642312" cy="16296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46FE5E8-84A5-8C8C-0347-5B7EA9EEF2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570" y="3308510"/>
            <a:ext cx="4673957" cy="6766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CA91D7E-A720-12C4-D7D5-6D9F9D50D8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1570" y="5253806"/>
            <a:ext cx="5655206" cy="13074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BBF5BA3-2279-D628-69AB-27179EECC4FE}"/>
              </a:ext>
            </a:extLst>
          </p:cNvPr>
          <p:cNvSpPr txBox="1"/>
          <p:nvPr/>
        </p:nvSpPr>
        <p:spPr>
          <a:xfrm>
            <a:off x="5329989" y="4705331"/>
            <a:ext cx="5816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Decision making becomes very easy with </a:t>
            </a:r>
            <a:r>
              <a:rPr lang="en-US" dirty="0" err="1"/>
              <a:t>enums</a:t>
            </a:r>
            <a:r>
              <a:rPr lang="en-US" dirty="0"/>
              <a:t>…!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16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DD5C-3391-99A2-2C7F-92249889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8746-56E9-E3E5-DC4D-3072EAB7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  <a:endParaRPr lang="en-IN" sz="5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D173A-088A-E7A5-6D6E-E8D1E9948A0A}"/>
              </a:ext>
            </a:extLst>
          </p:cNvPr>
          <p:cNvSpPr txBox="1"/>
          <p:nvPr/>
        </p:nvSpPr>
        <p:spPr>
          <a:xfrm>
            <a:off x="838200" y="1559913"/>
            <a:ext cx="681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 In amazon, we have product deliveries with types and prices.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4FD47-0208-70D1-E729-5B9D82779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77" y="2042692"/>
            <a:ext cx="3645728" cy="43901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255FF0-9BE6-BEF2-13DA-74500D965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353" y="2070766"/>
            <a:ext cx="6114050" cy="8328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E5EDC7-C24D-6C34-EB5B-A1776FF7A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3738400"/>
            <a:ext cx="5891623" cy="30241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72DE71-E048-1EEB-86A1-C286A2AD388E}"/>
              </a:ext>
            </a:extLst>
          </p:cNvPr>
          <p:cNvSpPr txBox="1"/>
          <p:nvPr/>
        </p:nvSpPr>
        <p:spPr>
          <a:xfrm>
            <a:off x="5027353" y="3119600"/>
            <a:ext cx="6817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Switch case example with </a:t>
            </a:r>
            <a:r>
              <a:rPr lang="en-US" dirty="0" err="1"/>
              <a:t>enums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50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9410-4A15-C808-09AA-2F982392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E8CA-71A3-A513-BA82-31CC88C4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Why Enums?</a:t>
            </a:r>
            <a:endParaRPr lang="en-IN" sz="54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B851FFE6-D805-181E-1113-74EE7BB66A07}"/>
              </a:ext>
            </a:extLst>
          </p:cNvPr>
          <p:cNvSpPr txBox="1"/>
          <p:nvPr/>
        </p:nvSpPr>
        <p:spPr>
          <a:xfrm>
            <a:off x="967102" y="1671616"/>
            <a:ext cx="8600243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Advantages of </a:t>
            </a:r>
            <a:r>
              <a:rPr lang="en-IN" sz="2400" b="1" dirty="0" err="1"/>
              <a:t>enums</a:t>
            </a:r>
            <a:r>
              <a:rPr lang="en-IN" sz="24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Improves code readability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Avoids magic numbers and strings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Prevents invalid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Used in workflows and state machines</a:t>
            </a:r>
          </a:p>
          <a:p>
            <a:endParaRPr lang="en-IN" sz="2400" dirty="0"/>
          </a:p>
          <a:p>
            <a:r>
              <a:rPr lang="en-IN" sz="2400" b="1" dirty="0"/>
              <a:t>Enums are commonly used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Order processing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Payment status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User roles and permissions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0641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323E-50FD-D115-1C9F-DF693023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A509-5E71-9124-1B5F-BD72EF04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OOPs Applications</a:t>
            </a:r>
            <a:endParaRPr lang="en-IN" sz="54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FAC8E101-CCF8-0EBF-3CDB-851276B73143}"/>
              </a:ext>
            </a:extLst>
          </p:cNvPr>
          <p:cNvSpPr txBox="1"/>
          <p:nvPr/>
        </p:nvSpPr>
        <p:spPr>
          <a:xfrm>
            <a:off x="838200" y="1789500"/>
            <a:ext cx="8600243" cy="448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OOP concepts are used in almost every modern software 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Banking Systems – Account, Transaction,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E-commerce Platforms – Product, Cart,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Enterprise Applications – ERP, CRM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Game Development – Player, Enemy, Weapon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System Design – Service models, domain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OOP is the backbone of scalable and maintainable systems.</a:t>
            </a:r>
          </a:p>
          <a:p>
            <a:br>
              <a:rPr lang="en-IN" sz="2400" dirty="0"/>
            </a:br>
            <a:endParaRPr lang="en-IN" sz="2400" dirty="0"/>
          </a:p>
          <a:p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8681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FF67B-4D54-E220-4E8B-A44843DF4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14C6-166D-3AF2-A584-A5DFD5EA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OOPs Concept – System Design</a:t>
            </a:r>
            <a:endParaRPr lang="en-IN" sz="54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10D12C22-D015-F861-DDF8-AD26836C0561}"/>
              </a:ext>
            </a:extLst>
          </p:cNvPr>
          <p:cNvSpPr txBox="1"/>
          <p:nvPr/>
        </p:nvSpPr>
        <p:spPr>
          <a:xfrm>
            <a:off x="838200" y="1765499"/>
            <a:ext cx="8600243" cy="4487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Mapping OOP to System 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Classes → Domain models and service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Objects → Runtime instances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Abstraction → APIs and service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Encapsulation → Module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Interfaces → Contract-first design</a:t>
            </a:r>
          </a:p>
          <a:p>
            <a:endParaRPr lang="en-IN" sz="2400" dirty="0"/>
          </a:p>
          <a:p>
            <a:r>
              <a:rPr lang="en-IN" sz="2400" dirty="0"/>
              <a:t>Strong OOP fundamentals lead to better </a:t>
            </a:r>
            <a:r>
              <a:rPr lang="en-IN" sz="2400" b="1" dirty="0"/>
              <a:t>Low-Level Design</a:t>
            </a:r>
            <a:r>
              <a:rPr lang="en-IN" sz="2400" dirty="0"/>
              <a:t>.</a:t>
            </a:r>
          </a:p>
          <a:p>
            <a:endParaRPr lang="en-IN" sz="2400" dirty="0"/>
          </a:p>
          <a:p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1755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B15F-0665-20F6-DAE2-B1C693DB0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0245-ACF2-41F8-D147-1183D8B13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Introduction to advance OOP concepts</a:t>
            </a:r>
            <a:endParaRPr lang="en-IN" sz="54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7565E96A-EB44-A38D-8C29-93AD0122365C}"/>
              </a:ext>
            </a:extLst>
          </p:cNvPr>
          <p:cNvSpPr txBox="1"/>
          <p:nvPr/>
        </p:nvSpPr>
        <p:spPr>
          <a:xfrm>
            <a:off x="707858" y="2415565"/>
            <a:ext cx="1077628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en-IN" sz="2400" dirty="0"/>
              <a:t>Advanced Object-Oriented Programming concepts help in building flexible, reusable, and scalable software systems.</a:t>
            </a:r>
          </a:p>
          <a:p>
            <a:pPr lvl="0">
              <a:lnSpc>
                <a:spcPct val="90000"/>
              </a:lnSpc>
            </a:pPr>
            <a:r>
              <a:rPr lang="en-IN" sz="2400" dirty="0"/>
              <a:t>These concepts allow classes and objects to interact with each other in meaningful ways and support real-world </a:t>
            </a:r>
            <a:r>
              <a:rPr lang="en-IN" sz="2400" dirty="0" err="1"/>
              <a:t>modeling</a:t>
            </a:r>
            <a:r>
              <a:rPr lang="en-IN" sz="2400" dirty="0"/>
              <a:t>.</a:t>
            </a:r>
          </a:p>
          <a:p>
            <a:pPr lvl="0">
              <a:lnSpc>
                <a:spcPct val="90000"/>
              </a:lnSpc>
            </a:pPr>
            <a:endParaRPr lang="en-IN" sz="2400" dirty="0"/>
          </a:p>
          <a:p>
            <a:pPr lvl="0">
              <a:lnSpc>
                <a:spcPct val="90000"/>
              </a:lnSpc>
            </a:pPr>
            <a:r>
              <a:rPr lang="en-IN" sz="2400" dirty="0"/>
              <a:t>Inheritance and polymorphism enable code reuse and extensibility, while class relationships define how objects are connected within a system.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These concepts are fundamental to Low-Level Design (LLD) and object </a:t>
            </a:r>
            <a:r>
              <a:rPr lang="en-IN" sz="2400" dirty="0" err="1"/>
              <a:t>modeling</a:t>
            </a:r>
            <a:r>
              <a:rPr lang="en-IN" sz="2400" dirty="0"/>
              <a:t> using UML diagrams.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682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E689-3B29-5F8F-2560-C61721A3E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3B41-656B-3D92-0136-46C4AC45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Inheritence</a:t>
            </a:r>
            <a:endParaRPr lang="en-IN" sz="54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7AE9AC43-02DE-92A9-F5A1-D20138791472}"/>
              </a:ext>
            </a:extLst>
          </p:cNvPr>
          <p:cNvSpPr txBox="1"/>
          <p:nvPr/>
        </p:nvSpPr>
        <p:spPr>
          <a:xfrm>
            <a:off x="838200" y="1990792"/>
            <a:ext cx="4768391" cy="328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b="1" dirty="0"/>
              <a:t>What is Inheritance?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Mechanism</a:t>
            </a:r>
            <a:r>
              <a:rPr lang="en-IN" dirty="0"/>
              <a:t> where one class acquires properties/</a:t>
            </a:r>
            <a:r>
              <a:rPr lang="en-IN" dirty="0" err="1"/>
              <a:t>behavior</a:t>
            </a:r>
            <a:r>
              <a:rPr lang="en-IN" dirty="0"/>
              <a:t> of another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IS-A Relationship</a:t>
            </a:r>
            <a:r>
              <a:rPr lang="en-IN" dirty="0"/>
              <a:t>: Derived class is a specialized version of base class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/>
              <a:t>Promotes Code Reuse</a:t>
            </a:r>
            <a:r>
              <a:rPr lang="en-IN" dirty="0"/>
              <a:t> and establishes natural hierarchies</a:t>
            </a:r>
          </a:p>
          <a:p>
            <a:endParaRPr lang="en-IN" dirty="0"/>
          </a:p>
          <a:p>
            <a:r>
              <a:rPr lang="en-IN" b="1" dirty="0"/>
              <a:t>Key Terminology: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Base/Parent/Superclass</a:t>
            </a:r>
            <a:r>
              <a:rPr lang="en-IN" dirty="0"/>
              <a:t>: Class being inherited from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Derived/Child/Subclass</a:t>
            </a:r>
            <a:r>
              <a:rPr lang="en-IN" dirty="0"/>
              <a:t>: Class that inherits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Single Inheritance</a:t>
            </a:r>
            <a:r>
              <a:rPr lang="en-IN" dirty="0"/>
              <a:t>: One parent class (Java, C#)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Multiple Inheritance</a:t>
            </a:r>
            <a:r>
              <a:rPr lang="en-IN" dirty="0"/>
              <a:t>: Multiple parents (C++, Python)</a:t>
            </a:r>
            <a:endParaRPr lang="en-US" sz="28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8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E83639-B1B8-71EB-2744-4756CC4EA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1987"/>
            <a:ext cx="5582652" cy="409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7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1ECF5-CF3A-1CCA-91EF-57A0784B0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49997-C566-DF67-E097-8E70E7D70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Inheritance - Types</a:t>
            </a:r>
            <a:endParaRPr lang="en-IN" sz="54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28101203-A3D1-B32B-3606-DB79C034F274}"/>
              </a:ext>
            </a:extLst>
          </p:cNvPr>
          <p:cNvSpPr txBox="1"/>
          <p:nvPr/>
        </p:nvSpPr>
        <p:spPr>
          <a:xfrm>
            <a:off x="430648" y="2169100"/>
            <a:ext cx="3884677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/>
              <a:t>Common types of inheritance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Single Inheritance</a:t>
            </a:r>
            <a:r>
              <a:rPr lang="en-IN" sz="2000" dirty="0"/>
              <a:t> – One parent, one child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Multilevel Inheritance</a:t>
            </a:r>
            <a:r>
              <a:rPr lang="en-IN" sz="2000" dirty="0"/>
              <a:t> – Chain of inheritance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Hierarchical Inheritance</a:t>
            </a:r>
            <a:r>
              <a:rPr lang="en-IN" sz="2000" dirty="0"/>
              <a:t> – Multiple children, one 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Multiple Inheritance</a:t>
            </a:r>
            <a:r>
              <a:rPr lang="en-IN" sz="2000" dirty="0"/>
              <a:t> – Multiple parents (via interfaces in 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Inheritance promotes </a:t>
            </a:r>
            <a:r>
              <a:rPr lang="en-IN" sz="2000" b="1" dirty="0"/>
              <a:t>code reuse</a:t>
            </a:r>
            <a:r>
              <a:rPr lang="en-IN" sz="2000" dirty="0"/>
              <a:t> and </a:t>
            </a:r>
            <a:r>
              <a:rPr lang="en-IN" sz="2000" b="1" dirty="0"/>
              <a:t>logical hierarchy</a:t>
            </a:r>
            <a:r>
              <a:rPr lang="en-IN" sz="2000" dirty="0"/>
              <a:t> in software systems.</a:t>
            </a:r>
          </a:p>
          <a:p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E0127A-B4AD-2FC2-91E9-669B4DD4C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924" y="2111161"/>
            <a:ext cx="3531754" cy="2091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775347-484E-D07A-51CD-62046C28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678" y="1460577"/>
            <a:ext cx="3884673" cy="24452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475B90-CE55-E117-DEC1-6DACD390F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420" y="4125022"/>
            <a:ext cx="5710991" cy="244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07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D5D7-7E5A-1A30-1F7F-A2383CA9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621E-30FD-AE5B-9A3B-221CEC2B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Inheritance – Advantage vs Limitation</a:t>
            </a:r>
            <a:endParaRPr lang="en-IN" sz="48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198CEBC4-BB83-C8BE-94DD-5CAEFF61BC9B}"/>
              </a:ext>
            </a:extLst>
          </p:cNvPr>
          <p:cNvSpPr txBox="1"/>
          <p:nvPr/>
        </p:nvSpPr>
        <p:spPr>
          <a:xfrm>
            <a:off x="960038" y="2058048"/>
            <a:ext cx="839703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Advantages: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Reduces code duplication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Improves maintainability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Establishes clear hierarchy</a:t>
            </a: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Limitations: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Tight coupling between parent and child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Changes in parent class can affect child classes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Overuse can lead to rigid designs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In system design, inheritance should be used carefully and often combined with composition.</a:t>
            </a: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20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0F91-B4C9-6A7E-C7F5-5F7F1C68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C5FB-10E5-E7C6-DB9B-546425FFC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Polymorphism</a:t>
            </a:r>
            <a:endParaRPr lang="en-IN" sz="48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D8755CD3-E152-B3E7-39FA-D1580878E45D}"/>
              </a:ext>
            </a:extLst>
          </p:cNvPr>
          <p:cNvSpPr txBox="1"/>
          <p:nvPr/>
        </p:nvSpPr>
        <p:spPr>
          <a:xfrm>
            <a:off x="838200" y="1977982"/>
            <a:ext cx="10696074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Polymorphism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means “many forms.”</a:t>
            </a:r>
            <a:b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It allows the same method or interface to behave differently based on the object invoking it.</a:t>
            </a:r>
          </a:p>
          <a:p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Polymorphism enables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en-IN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 at runtime and improves system flexibility.</a:t>
            </a:r>
          </a:p>
          <a:p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A method </a:t>
            </a:r>
            <a:r>
              <a:rPr lang="en-IN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calculateSalary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() behaves differently for Employee, Manager, and Intern objects.</a:t>
            </a:r>
          </a:p>
          <a:p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There are two main 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Compile-time Polymorphism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Achieved using method overloading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Runtime Polymorphism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Achieved using method overriding and inheritance</a:t>
            </a:r>
          </a:p>
          <a:p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Runtime polymorphism is heavily used in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frameworks, APIs, and system design</a:t>
            </a:r>
            <a:r>
              <a:rPr lang="en-IN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87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06517-E7E1-626C-7959-0B299BA52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56CC6-9C4F-C689-2226-A068A627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Polymorphism - Types</a:t>
            </a:r>
            <a:endParaRPr lang="en-IN" sz="4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EEB50-2572-A71E-BE71-7F1DB83BF317}"/>
              </a:ext>
            </a:extLst>
          </p:cNvPr>
          <p:cNvSpPr txBox="1"/>
          <p:nvPr/>
        </p:nvSpPr>
        <p:spPr>
          <a:xfrm>
            <a:off x="706145" y="2043613"/>
            <a:ext cx="4572000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1. Compile-Time Polymorphism (Static/Early Binding)</a:t>
            </a:r>
          </a:p>
          <a:p>
            <a:pPr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Method Overloading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: Same method name, different parameters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Operator Overloading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 (C++, Python)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086F2-64D3-5EAE-1FB7-E00A296E0D63}"/>
              </a:ext>
            </a:extLst>
          </p:cNvPr>
          <p:cNvSpPr txBox="1"/>
          <p:nvPr/>
        </p:nvSpPr>
        <p:spPr>
          <a:xfrm>
            <a:off x="706145" y="4328625"/>
            <a:ext cx="4355869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2. Runtime Polymorphism (Dynamic/Late Binding)</a:t>
            </a:r>
          </a:p>
          <a:p>
            <a:pPr algn="l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F1115"/>
                </a:solidFill>
                <a:effectLst/>
                <a:latin typeface="quote-cjk-patch"/>
              </a:rPr>
              <a:t>Method Overriding</a:t>
            </a: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: Subclass provides specific implementation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F1115"/>
                </a:solidFill>
                <a:effectLst/>
                <a:latin typeface="quote-cjk-patch"/>
              </a:rPr>
              <a:t>Requires inheritance + method overriding + upcasting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CF7F1-F9F9-C70E-605D-D98C3B66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171" y="2043613"/>
            <a:ext cx="5210913" cy="2031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14A51-12C7-14DA-2E30-BE8537154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171" y="4328625"/>
            <a:ext cx="5210913" cy="221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50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E6FD2-DF9E-90C8-BE18-DAF262C4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FCC4-8660-42A0-CFF2-81121DFC8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Polymorphism - Types</a:t>
            </a:r>
            <a:endParaRPr lang="en-IN" sz="48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AC853B9C-9D51-22F4-54A7-FAA52667ACDA}"/>
              </a:ext>
            </a:extLst>
          </p:cNvPr>
          <p:cNvSpPr txBox="1"/>
          <p:nvPr/>
        </p:nvSpPr>
        <p:spPr>
          <a:xfrm>
            <a:off x="950495" y="2079806"/>
            <a:ext cx="8196483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Polymorphism provides: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Loose coupling between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Easy extensibility without modifying existing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Better abstraction and interface-based design</a:t>
            </a:r>
          </a:p>
          <a:p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It follows the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Open–Closed Principle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dirty="0">
                <a:latin typeface="Calibri" panose="020F0502020204030204" pitchFamily="34" charset="0"/>
                <a:cs typeface="Calibri" panose="020F0502020204030204" pitchFamily="34" charset="0"/>
              </a:rPr>
              <a:t>Open for extension, closed for modification.</a:t>
            </a:r>
          </a:p>
          <a:p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Polymorphism is a key concept behind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dependency injection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plugin architectures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20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67407-77C5-D829-090C-B90B7D7C5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790C-83D3-4C0A-D469-50889A09B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9510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Class Relationships</a:t>
            </a:r>
            <a:endParaRPr lang="en-IN" sz="48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6FE0E4EA-7AEF-0E32-BA62-33EC51DBFD5D}"/>
              </a:ext>
            </a:extLst>
          </p:cNvPr>
          <p:cNvSpPr txBox="1"/>
          <p:nvPr/>
        </p:nvSpPr>
        <p:spPr>
          <a:xfrm>
            <a:off x="838200" y="1897626"/>
            <a:ext cx="880317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800" dirty="0"/>
              <a:t>Class relationships describe how classes and objects are connected to each other in a system.</a:t>
            </a:r>
          </a:p>
          <a:p>
            <a:endParaRPr lang="en-IN" sz="1800" dirty="0"/>
          </a:p>
          <a:p>
            <a:r>
              <a:rPr lang="en-IN" sz="1800" b="1" dirty="0"/>
              <a:t>Why Relationships Matter?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1800" b="1" dirty="0"/>
              <a:t>Real-world modelling</a:t>
            </a:r>
            <a:r>
              <a:rPr lang="en-IN" sz="1800" dirty="0"/>
              <a:t>: Objects don't exist in isolation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1800" b="1" dirty="0"/>
              <a:t>Software Design</a:t>
            </a:r>
            <a:r>
              <a:rPr lang="en-IN" sz="1800" dirty="0"/>
              <a:t>: Relationships affect coupling, cohesion, maintainability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1800" b="1" dirty="0"/>
              <a:t>UML Representation</a:t>
            </a:r>
            <a:r>
              <a:rPr lang="en-IN" sz="1800" dirty="0"/>
              <a:t>: Visual design communication</a:t>
            </a:r>
          </a:p>
          <a:p>
            <a:endParaRPr lang="en-IN" sz="1800" dirty="0"/>
          </a:p>
          <a:p>
            <a:r>
              <a:rPr lang="en-IN" sz="1800" b="1" dirty="0"/>
              <a:t>Four Key Relationships: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Association</a:t>
            </a:r>
            <a:r>
              <a:rPr lang="en-IN" sz="1800" dirty="0"/>
              <a:t> → "Uses"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Aggregation</a:t>
            </a:r>
            <a:r>
              <a:rPr lang="en-IN" sz="1800" dirty="0"/>
              <a:t> → "Has-a" (Weak ownership)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Composition</a:t>
            </a:r>
            <a:r>
              <a:rPr lang="en-IN" sz="1800" dirty="0"/>
              <a:t> → "Part-of" (Strong ownership)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/>
              <a:t>Dependency</a:t>
            </a:r>
            <a:r>
              <a:rPr lang="en-IN" sz="1800" dirty="0"/>
              <a:t> → "Depends-on"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0967243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FB31B-3A2E-CAFF-ED57-9E3EF113D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029E-3E96-77E8-383C-BE5ACA4F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Association</a:t>
            </a:r>
            <a:endParaRPr lang="en-IN" sz="48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F867BE34-3F15-8351-7B7C-496E5CC60D5C}"/>
              </a:ext>
            </a:extLst>
          </p:cNvPr>
          <p:cNvSpPr txBox="1"/>
          <p:nvPr/>
        </p:nvSpPr>
        <p:spPr>
          <a:xfrm>
            <a:off x="838200" y="1858542"/>
            <a:ext cx="8803178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b="1" dirty="0"/>
              <a:t>Association</a:t>
            </a:r>
            <a:r>
              <a:rPr lang="en-IN" sz="1600" dirty="0"/>
              <a:t> represents a relationship where objects of one class are connected to objects of another class.</a:t>
            </a:r>
          </a:p>
          <a:p>
            <a:r>
              <a:rPr lang="en-IN" b="1" dirty="0"/>
              <a:t>"A uses B"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Weakest relationship</a:t>
            </a:r>
            <a:r>
              <a:rPr lang="en-IN" dirty="0"/>
              <a:t> between two independent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Both exist independently</a:t>
            </a:r>
            <a:r>
              <a:rPr lang="en-IN" dirty="0"/>
              <a:t> - lifecycle not tied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Can be</a:t>
            </a:r>
            <a:r>
              <a:rPr lang="en-IN" dirty="0"/>
              <a:t>: Unidirectional or Bidirectional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It represents a </a:t>
            </a:r>
            <a:r>
              <a:rPr lang="en-IN" sz="1600" b="1" dirty="0"/>
              <a:t>“uses” or “knows” relationship</a:t>
            </a:r>
            <a:r>
              <a:rPr lang="en-IN" sz="1600" dirty="0"/>
              <a:t>.</a:t>
            </a:r>
          </a:p>
          <a:p>
            <a:r>
              <a:rPr lang="en-IN" sz="16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Teacher and 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Doctor and Patient</a:t>
            </a:r>
          </a:p>
          <a:p>
            <a:r>
              <a:rPr lang="en-IN" sz="1600" b="1" dirty="0"/>
              <a:t>Association can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One-to-one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One-to-many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Many-to-many</a:t>
            </a:r>
          </a:p>
          <a:p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FBE480-CB06-0665-F2F9-D7EAB6191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034" y="2568282"/>
            <a:ext cx="4829766" cy="402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38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C0BDA-77E7-00F1-1B92-AB499068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5A30-E116-ED38-9A74-44B5D5960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Association</a:t>
            </a:r>
            <a:endParaRPr lang="en-IN" sz="48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C5A3AD99-EF5D-074E-3A45-88E789054581}"/>
              </a:ext>
            </a:extLst>
          </p:cNvPr>
          <p:cNvSpPr txBox="1"/>
          <p:nvPr/>
        </p:nvSpPr>
        <p:spPr>
          <a:xfrm>
            <a:off x="838200" y="1682079"/>
            <a:ext cx="8803178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dirty="0"/>
              <a:t>Key points about association: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Objects have independent lifecycles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One object can exist without the 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Weak relationship</a:t>
            </a:r>
          </a:p>
          <a:p>
            <a:endParaRPr lang="en-IN" sz="2000" dirty="0"/>
          </a:p>
          <a:p>
            <a:r>
              <a:rPr lang="en-IN" sz="2000" b="1" dirty="0"/>
              <a:t>Real-world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Doctor</a:t>
            </a:r>
            <a:r>
              <a:rPr lang="en-IN" sz="2000" dirty="0"/>
              <a:t> ↔ </a:t>
            </a:r>
            <a:r>
              <a:rPr lang="en-IN" sz="2000" b="1" dirty="0"/>
              <a:t>Patient</a:t>
            </a:r>
            <a:r>
              <a:rPr lang="en-IN" sz="2000" dirty="0"/>
              <a:t> (appointment)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Customer</a:t>
            </a:r>
            <a:r>
              <a:rPr lang="en-IN" sz="2000" dirty="0"/>
              <a:t> ↔ </a:t>
            </a:r>
            <a:r>
              <a:rPr lang="en-IN" sz="2000" b="1" dirty="0"/>
              <a:t>Product</a:t>
            </a:r>
            <a:r>
              <a:rPr lang="en-IN" sz="2000" dirty="0"/>
              <a:t> (browsing)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UML:</a:t>
            </a:r>
            <a:r>
              <a:rPr lang="en-IN" sz="2000" dirty="0"/>
              <a:t> Solid line between classes (optional arrows for direction)</a:t>
            </a:r>
          </a:p>
          <a:p>
            <a:endParaRPr lang="en-IN" sz="2000" dirty="0"/>
          </a:p>
          <a:p>
            <a:r>
              <a:rPr lang="en-IN" sz="2000" dirty="0"/>
              <a:t>Association is commonly used to represent </a:t>
            </a:r>
            <a:r>
              <a:rPr lang="en-IN" sz="2000" b="1" dirty="0"/>
              <a:t>interactions</a:t>
            </a:r>
            <a:r>
              <a:rPr lang="en-IN" sz="2000" dirty="0"/>
              <a:t> rather than ownership.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49162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DEDE-5657-21F3-AB98-DA068A93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E9ED-3EEC-436E-AF8C-00610A76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Composition</a:t>
            </a:r>
            <a:endParaRPr lang="en-IN" sz="48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175B6F74-BB29-A9BA-224A-191881958FCE}"/>
              </a:ext>
            </a:extLst>
          </p:cNvPr>
          <p:cNvSpPr txBox="1"/>
          <p:nvPr/>
        </p:nvSpPr>
        <p:spPr>
          <a:xfrm>
            <a:off x="838200" y="1617910"/>
            <a:ext cx="5931568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/>
              <a:t>Composition</a:t>
            </a:r>
            <a:r>
              <a:rPr lang="en-IN" sz="2000" dirty="0"/>
              <a:t> is a strong form of aggregation that represents a </a:t>
            </a:r>
            <a:r>
              <a:rPr lang="en-IN" sz="2000" b="1" dirty="0"/>
              <a:t>strong “has-a” relationship</a:t>
            </a:r>
            <a:r>
              <a:rPr lang="en-IN" sz="2000" dirty="0"/>
              <a:t>.</a:t>
            </a:r>
          </a:p>
          <a:p>
            <a:endParaRPr lang="en-IN" sz="2000" b="1" dirty="0"/>
          </a:p>
          <a:p>
            <a:r>
              <a:rPr lang="en-IN" sz="2000" b="1" dirty="0"/>
              <a:t>"Part-of" (Strong Ownership)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Strongest relationship</a:t>
            </a:r>
            <a:r>
              <a:rPr lang="en-IN" sz="2000" dirty="0"/>
              <a:t> - exclusive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Parts cannot exist</a:t>
            </a:r>
            <a:r>
              <a:rPr lang="en-IN" sz="2000" dirty="0"/>
              <a:t> without whole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Same lifecycle</a:t>
            </a:r>
            <a:r>
              <a:rPr lang="en-IN" sz="2000" dirty="0"/>
              <a:t> - part created/destroyed with whole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000" b="1" dirty="0"/>
              <a:t>In composition: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part </a:t>
            </a:r>
            <a:r>
              <a:rPr lang="en-IN" sz="2000" b="1" dirty="0"/>
              <a:t>cannot exist without the whole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Lifecycles are tightly bound</a:t>
            </a:r>
          </a:p>
          <a:p>
            <a:r>
              <a:rPr lang="en-IN" sz="20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House and 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Order and </a:t>
            </a:r>
            <a:r>
              <a:rPr lang="en-IN" sz="2000" dirty="0" err="1"/>
              <a:t>OrderItems</a:t>
            </a:r>
            <a:endParaRPr lang="en-IN" sz="2000" dirty="0"/>
          </a:p>
          <a:p>
            <a:r>
              <a:rPr lang="en-IN" sz="2000" dirty="0"/>
              <a:t>If the whole is destroyed, the parts are destroyed as well.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B1D97-B657-DF01-FA77-314B0D248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287" y="1252030"/>
            <a:ext cx="4520945" cy="518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804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281D-DA4C-4A18-4AAD-9024A588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46A7-B60A-7ECA-3CCA-A407EEAD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Composition – Why it is preferred?</a:t>
            </a:r>
            <a:endParaRPr lang="en-IN" sz="48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55C40221-9B1E-F245-1DB1-F119755C1B75}"/>
              </a:ext>
            </a:extLst>
          </p:cNvPr>
          <p:cNvSpPr txBox="1"/>
          <p:nvPr/>
        </p:nvSpPr>
        <p:spPr>
          <a:xfrm>
            <a:off x="963016" y="1641682"/>
            <a:ext cx="702543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/>
              <a:t>Composition provides: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Better encapsulation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Clear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Flexible and maintainable design</a:t>
            </a:r>
          </a:p>
          <a:p>
            <a:endParaRPr lang="en-IN" sz="2000" dirty="0"/>
          </a:p>
          <a:p>
            <a:r>
              <a:rPr lang="en-IN" sz="2000" b="1" dirty="0"/>
              <a:t>Modern system design follows the principle: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“Favor composition over inheritance.”</a:t>
            </a:r>
          </a:p>
          <a:p>
            <a:endParaRPr lang="en-IN" sz="2000" dirty="0"/>
          </a:p>
          <a:p>
            <a:r>
              <a:rPr lang="en-IN" sz="2000" dirty="0"/>
              <a:t>Composition reduces tight coupling and improves scalability.</a:t>
            </a:r>
          </a:p>
          <a:p>
            <a:endParaRPr lang="en-IN" sz="2000" dirty="0"/>
          </a:p>
          <a:p>
            <a:r>
              <a:rPr lang="en-IN" sz="2000" b="1" dirty="0"/>
              <a:t>Real-world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Human</a:t>
            </a:r>
            <a:r>
              <a:rPr lang="en-IN" sz="2000" dirty="0"/>
              <a:t> ↔ </a:t>
            </a:r>
            <a:r>
              <a:rPr lang="en-IN" sz="2000" b="1" dirty="0"/>
              <a:t>Heart</a:t>
            </a:r>
            <a:r>
              <a:rPr lang="en-IN" sz="2000" dirty="0"/>
              <a:t> (heart cannot exist independently)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Car</a:t>
            </a:r>
            <a:r>
              <a:rPr lang="en-IN" sz="2000" dirty="0"/>
              <a:t> ↔ </a:t>
            </a:r>
            <a:r>
              <a:rPr lang="en-IN" sz="2000" b="1" dirty="0"/>
              <a:t>Engine</a:t>
            </a:r>
            <a:r>
              <a:rPr lang="en-IN" sz="2000" dirty="0"/>
              <a:t> (specific engine belongs to specific car)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UML:</a:t>
            </a:r>
            <a:r>
              <a:rPr lang="en-IN" sz="2000" dirty="0"/>
              <a:t> Solid line with filled diamond at whole side</a:t>
            </a:r>
          </a:p>
        </p:txBody>
      </p:sp>
    </p:spTree>
    <p:extLst>
      <p:ext uri="{BB962C8B-B14F-4D97-AF65-F5344CB8AC3E}">
        <p14:creationId xmlns:p14="http://schemas.microsoft.com/office/powerpoint/2010/main" val="710811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0584-1F7B-A971-0BB6-7278B37F9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D92C-AF47-9FA4-BE9B-E79274AEA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Dependency</a:t>
            </a:r>
            <a:endParaRPr lang="en-IN" sz="48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74397FFB-FC4E-827E-A77C-B3A2039AE01A}"/>
              </a:ext>
            </a:extLst>
          </p:cNvPr>
          <p:cNvSpPr txBox="1"/>
          <p:nvPr/>
        </p:nvSpPr>
        <p:spPr>
          <a:xfrm>
            <a:off x="838200" y="1692699"/>
            <a:ext cx="5482389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/>
              <a:t>Dependency</a:t>
            </a:r>
            <a:r>
              <a:rPr lang="en-IN" sz="2000" dirty="0"/>
              <a:t> represents a relationship where one class </a:t>
            </a:r>
            <a:r>
              <a:rPr lang="en-IN" sz="2000" b="1" dirty="0"/>
              <a:t>depends on another class temporarily</a:t>
            </a:r>
            <a:r>
              <a:rPr lang="en-IN" sz="2000" dirty="0"/>
              <a:t> to perform a task.</a:t>
            </a:r>
          </a:p>
          <a:p>
            <a:endParaRPr lang="en-IN" sz="2000" dirty="0"/>
          </a:p>
          <a:p>
            <a:r>
              <a:rPr lang="en-IN" sz="2000" b="1" dirty="0"/>
              <a:t>"Depends-on" (Temporary Use)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Most temporary relationship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One class uses another</a:t>
            </a:r>
            <a:r>
              <a:rPr lang="en-IN" sz="2000" dirty="0"/>
              <a:t> briefly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Typically through</a:t>
            </a:r>
            <a:r>
              <a:rPr lang="en-IN" sz="2000" dirty="0"/>
              <a:t>: Method parameters, return types, local variables</a:t>
            </a:r>
          </a:p>
          <a:p>
            <a:r>
              <a:rPr lang="en-IN" sz="2000" b="1" dirty="0"/>
              <a:t>It is the weakest relationship.</a:t>
            </a:r>
          </a:p>
          <a:p>
            <a:r>
              <a:rPr lang="en-IN" sz="2000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service class using a logger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method using a database connection</a:t>
            </a:r>
          </a:p>
          <a:p>
            <a:r>
              <a:rPr lang="en-IN" sz="2000" dirty="0"/>
              <a:t>Dependency often appears as method parameters or local variables.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0148D-DBDF-B408-A974-8D7858189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588" y="1380739"/>
            <a:ext cx="5033211" cy="501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20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FC73-65AC-DC25-05F2-5CDDCD9F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138D-8132-557F-4F69-40F7504D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Dependency – Role in System Design</a:t>
            </a:r>
            <a:endParaRPr lang="en-IN" sz="48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BED984D4-E0F9-4311-4936-06F26A20F330}"/>
              </a:ext>
            </a:extLst>
          </p:cNvPr>
          <p:cNvSpPr txBox="1"/>
          <p:nvPr/>
        </p:nvSpPr>
        <p:spPr>
          <a:xfrm>
            <a:off x="838200" y="1734293"/>
            <a:ext cx="9813758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dirty="0"/>
              <a:t>Dependency is important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Loose coupling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Testability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Dependency Injection</a:t>
            </a:r>
          </a:p>
          <a:p>
            <a:endParaRPr lang="en-IN" sz="2400" dirty="0"/>
          </a:p>
          <a:p>
            <a:r>
              <a:rPr lang="en-IN" sz="2400" dirty="0"/>
              <a:t>Reducing dependencies makes systems easier to modify and scale.</a:t>
            </a:r>
          </a:p>
          <a:p>
            <a:r>
              <a:rPr lang="en-IN" sz="2400" dirty="0"/>
              <a:t>Frameworks like </a:t>
            </a:r>
            <a:r>
              <a:rPr lang="en-IN" sz="2400" b="1" dirty="0"/>
              <a:t>Spring</a:t>
            </a:r>
            <a:r>
              <a:rPr lang="en-IN" sz="2400" dirty="0"/>
              <a:t> heavily rely on dependency management.</a:t>
            </a:r>
          </a:p>
          <a:p>
            <a:endParaRPr lang="en-IN" sz="2400" dirty="0"/>
          </a:p>
          <a:p>
            <a:r>
              <a:rPr lang="en-IN" sz="2400" b="1" dirty="0"/>
              <a:t>When it Occurs: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Method parameter/return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Local variable in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Static method call</a:t>
            </a:r>
          </a:p>
          <a:p>
            <a:r>
              <a:rPr lang="en-IN" sz="2400" b="1" dirty="0"/>
              <a:t>UML:</a:t>
            </a:r>
            <a:r>
              <a:rPr lang="en-IN" sz="2400" dirty="0"/>
              <a:t> Dashed line with arrow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18174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887C-ECBF-6638-76A7-FB17BFFC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5892-F7CA-0A47-B62B-50E485CAC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Comparison of Class Relationship</a:t>
            </a:r>
            <a:endParaRPr lang="en-IN" sz="48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C946B1-8F7C-2022-0F58-0F823C81D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6560590"/>
              </p:ext>
            </p:extLst>
          </p:nvPr>
        </p:nvGraphicFramePr>
        <p:xfrm>
          <a:off x="922420" y="1565819"/>
          <a:ext cx="9087854" cy="2590800"/>
        </p:xfrm>
        <a:graphic>
          <a:graphicData uri="http://schemas.openxmlformats.org/drawingml/2006/table">
            <a:tbl>
              <a:tblPr/>
              <a:tblGrid>
                <a:gridCol w="1538838">
                  <a:extLst>
                    <a:ext uri="{9D8B030D-6E8A-4147-A177-3AD203B41FA5}">
                      <a16:colId xmlns:a16="http://schemas.microsoft.com/office/drawing/2014/main" val="3280646400"/>
                    </a:ext>
                  </a:extLst>
                </a:gridCol>
                <a:gridCol w="1887254">
                  <a:extLst>
                    <a:ext uri="{9D8B030D-6E8A-4147-A177-3AD203B41FA5}">
                      <a16:colId xmlns:a16="http://schemas.microsoft.com/office/drawing/2014/main" val="4227184143"/>
                    </a:ext>
                  </a:extLst>
                </a:gridCol>
                <a:gridCol w="1887254">
                  <a:extLst>
                    <a:ext uri="{9D8B030D-6E8A-4147-A177-3AD203B41FA5}">
                      <a16:colId xmlns:a16="http://schemas.microsoft.com/office/drawing/2014/main" val="3947086471"/>
                    </a:ext>
                  </a:extLst>
                </a:gridCol>
                <a:gridCol w="1887254">
                  <a:extLst>
                    <a:ext uri="{9D8B030D-6E8A-4147-A177-3AD203B41FA5}">
                      <a16:colId xmlns:a16="http://schemas.microsoft.com/office/drawing/2014/main" val="3118973372"/>
                    </a:ext>
                  </a:extLst>
                </a:gridCol>
                <a:gridCol w="1887254">
                  <a:extLst>
                    <a:ext uri="{9D8B030D-6E8A-4147-A177-3AD203B41FA5}">
                      <a16:colId xmlns:a16="http://schemas.microsoft.com/office/drawing/2014/main" val="2546069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Aspect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Association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Aggregation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Composition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Dependency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53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Relationship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Uses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Has-a (weak)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Part-of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Depends-on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371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Lifespan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Independent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Independent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Same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Independent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80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Strength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Weak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Medium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Strong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Very Weak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28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Ownership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Shared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Exclusive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No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37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</a:rPr>
                        <a:t>UML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Solid line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Empty diamond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solidFill>
                            <a:schemeClr val="tx1"/>
                          </a:solidFill>
                          <a:effectLst/>
                        </a:rPr>
                        <a:t>Filled diamond</a:t>
                      </a:r>
                      <a:endParaRPr lang="en-IN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effectLst/>
                        </a:rPr>
                        <a:t>Dashed arrow</a:t>
                      </a:r>
                      <a:endParaRPr lang="en-IN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4568437"/>
                  </a:ext>
                </a:extLst>
              </a:tr>
            </a:tbl>
          </a:graphicData>
        </a:graphic>
      </p:graphicFrame>
      <p:sp>
        <p:nvSpPr>
          <p:cNvPr id="5" name="Google Shape;113;p2">
            <a:extLst>
              <a:ext uri="{FF2B5EF4-FFF2-40B4-BE49-F238E27FC236}">
                <a16:creationId xmlns:a16="http://schemas.microsoft.com/office/drawing/2014/main" id="{AEAA51AE-2D7B-7D07-5908-446934A8C7B7}"/>
              </a:ext>
            </a:extLst>
          </p:cNvPr>
          <p:cNvSpPr txBox="1"/>
          <p:nvPr/>
        </p:nvSpPr>
        <p:spPr>
          <a:xfrm>
            <a:off x="838200" y="4648427"/>
            <a:ext cx="8803178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Association</a:t>
            </a:r>
            <a:r>
              <a:rPr lang="en-IN" dirty="0"/>
              <a:t> – Uses/knows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Aggregation</a:t>
            </a:r>
            <a:r>
              <a:rPr lang="en-IN" dirty="0"/>
              <a:t> – Weak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Composition</a:t>
            </a:r>
            <a:r>
              <a:rPr lang="en-IN" dirty="0"/>
              <a:t> – Strong ownership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Dependency</a:t>
            </a:r>
            <a:r>
              <a:rPr lang="en-IN" dirty="0"/>
              <a:t> – Temporary usage</a:t>
            </a:r>
          </a:p>
          <a:p>
            <a:r>
              <a:rPr lang="en-IN" dirty="0"/>
              <a:t>Understanding these relationships helps in designing </a:t>
            </a:r>
            <a:r>
              <a:rPr lang="en-IN" b="1" dirty="0"/>
              <a:t>clean UML diagrams</a:t>
            </a:r>
            <a:r>
              <a:rPr lang="en-IN" dirty="0"/>
              <a:t> and </a:t>
            </a:r>
            <a:r>
              <a:rPr lang="en-IN" b="1" dirty="0"/>
              <a:t>robust LLD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62021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D88A-5C94-0B75-5DBE-E9B316CB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26E3E-A2CA-4EF2-442A-5B78EF4D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Design Considerations</a:t>
            </a:r>
            <a:endParaRPr lang="en-IN" sz="48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C9BF3B74-9ED9-E471-0556-294698C815A6}"/>
              </a:ext>
            </a:extLst>
          </p:cNvPr>
          <p:cNvSpPr txBox="1"/>
          <p:nvPr/>
        </p:nvSpPr>
        <p:spPr>
          <a:xfrm>
            <a:off x="838200" y="1938753"/>
            <a:ext cx="4248979" cy="375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b="1" dirty="0"/>
              <a:t>Ask These Questions:</a:t>
            </a:r>
          </a:p>
          <a:p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Does B exist without A?</a:t>
            </a:r>
            <a:endParaRPr lang="en-IN" sz="1600" dirty="0"/>
          </a:p>
          <a:p>
            <a:pPr marL="285750" lvl="1" indent="-285750">
              <a:buFont typeface="Wingdings" pitchFamily="2" charset="2"/>
              <a:buChar char="ü"/>
            </a:pPr>
            <a:r>
              <a:rPr lang="en-IN" sz="1600" dirty="0"/>
              <a:t>No → </a:t>
            </a:r>
            <a:r>
              <a:rPr lang="en-IN" sz="1600" b="1" dirty="0"/>
              <a:t>Composition</a:t>
            </a:r>
            <a:endParaRPr lang="en-IN" sz="1600" dirty="0"/>
          </a:p>
          <a:p>
            <a:pPr marL="285750" lvl="1" indent="-285750">
              <a:buFont typeface="Wingdings" pitchFamily="2" charset="2"/>
              <a:buChar char="ü"/>
            </a:pPr>
            <a:r>
              <a:rPr lang="en-IN" sz="1600" dirty="0"/>
              <a:t>Yes → Association/Aggregation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Is B shared between multiple A's?</a:t>
            </a:r>
            <a:endParaRPr lang="en-IN" sz="1600" dirty="0"/>
          </a:p>
          <a:p>
            <a:pPr marL="285750" lvl="1" indent="-285750">
              <a:buFont typeface="Wingdings" pitchFamily="2" charset="2"/>
              <a:buChar char="ü"/>
            </a:pPr>
            <a:r>
              <a:rPr lang="en-IN" sz="1600" dirty="0"/>
              <a:t>Yes → </a:t>
            </a:r>
            <a:r>
              <a:rPr lang="en-IN" sz="1600" b="1" dirty="0"/>
              <a:t>Aggregation</a:t>
            </a:r>
            <a:endParaRPr lang="en-IN" sz="1600" dirty="0"/>
          </a:p>
          <a:p>
            <a:pPr marL="285750" lvl="1" indent="-285750">
              <a:buFont typeface="Wingdings" pitchFamily="2" charset="2"/>
              <a:buChar char="ü"/>
            </a:pPr>
            <a:r>
              <a:rPr lang="en-IN" sz="1600" dirty="0"/>
              <a:t>No → Composition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Is the use temporary?</a:t>
            </a:r>
            <a:endParaRPr lang="en-IN" sz="1600" dirty="0"/>
          </a:p>
          <a:p>
            <a:pPr marL="285750" lvl="1" indent="-285750">
              <a:buFont typeface="Wingdings" pitchFamily="2" charset="2"/>
              <a:buChar char="ü"/>
            </a:pPr>
            <a:r>
              <a:rPr lang="en-IN" sz="1600" dirty="0"/>
              <a:t>Yes → </a:t>
            </a:r>
            <a:r>
              <a:rPr lang="en-IN" sz="1600" b="1" dirty="0"/>
              <a:t>Dependency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Just using without ownership?</a:t>
            </a:r>
            <a:endParaRPr lang="en-IN" sz="1600" dirty="0"/>
          </a:p>
          <a:p>
            <a:pPr marL="285750" lvl="1" indent="-285750">
              <a:buFont typeface="Wingdings" pitchFamily="2" charset="2"/>
              <a:buChar char="ü"/>
            </a:pPr>
            <a:r>
              <a:rPr lang="en-IN" sz="1600" dirty="0"/>
              <a:t>Yes → </a:t>
            </a:r>
            <a:r>
              <a:rPr lang="en-IN" sz="1600" b="1" dirty="0"/>
              <a:t>Association</a:t>
            </a:r>
            <a:endParaRPr lang="en-IN" sz="1600" dirty="0"/>
          </a:p>
          <a:p>
            <a:br>
              <a:rPr lang="en-IN" dirty="0"/>
            </a:br>
            <a:endParaRPr lang="en-IN" sz="1600" dirty="0"/>
          </a:p>
          <a:p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E7C38-6DA3-C29D-AEFB-5E83D7F924CC}"/>
              </a:ext>
            </a:extLst>
          </p:cNvPr>
          <p:cNvSpPr txBox="1"/>
          <p:nvPr/>
        </p:nvSpPr>
        <p:spPr>
          <a:xfrm>
            <a:off x="6096000" y="2170963"/>
            <a:ext cx="4309241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sz="1600" b="1" dirty="0">
                <a:solidFill>
                  <a:srgbClr val="0F1115"/>
                </a:solidFill>
                <a:effectLst/>
                <a:latin typeface="quote-cjk-patch"/>
              </a:rPr>
              <a:t>Design Principle:</a:t>
            </a:r>
          </a:p>
          <a:p>
            <a:pPr algn="l">
              <a:spcBef>
                <a:spcPts val="1200"/>
              </a:spcBef>
              <a:buNone/>
            </a:pPr>
            <a:r>
              <a:rPr lang="en-IN" sz="1600" b="1" i="0" dirty="0">
                <a:solidFill>
                  <a:srgbClr val="0F1115"/>
                </a:solidFill>
                <a:effectLst/>
                <a:latin typeface="quote-cjk-patch"/>
              </a:rPr>
              <a:t>"Favor Composition over Inheritance"</a:t>
            </a:r>
            <a:r>
              <a:rPr lang="en-IN" sz="1600" b="0" i="0" dirty="0">
                <a:solidFill>
                  <a:srgbClr val="0F1115"/>
                </a:solidFill>
                <a:effectLst/>
                <a:latin typeface="quote-cjk-patch"/>
              </a:rPr>
              <a:t> - Gang of Four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F1115"/>
                </a:solidFill>
                <a:effectLst/>
                <a:latin typeface="quote-cjk-patch"/>
              </a:rPr>
              <a:t>More flexible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F1115"/>
                </a:solidFill>
                <a:effectLst/>
                <a:latin typeface="quote-cjk-patch"/>
              </a:rPr>
              <a:t>Less coupling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F1115"/>
                </a:solidFill>
                <a:effectLst/>
                <a:latin typeface="quote-cjk-patch"/>
              </a:rPr>
              <a:t>Easier to change at runtime</a:t>
            </a:r>
          </a:p>
        </p:txBody>
      </p:sp>
    </p:spTree>
    <p:extLst>
      <p:ext uri="{BB962C8B-B14F-4D97-AF65-F5344CB8AC3E}">
        <p14:creationId xmlns:p14="http://schemas.microsoft.com/office/powerpoint/2010/main" val="4271345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BB269-649F-5EA2-4DBF-554F15A8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4E81-DD0B-6C1C-4CD6-4EAA06FE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Example – Library System</a:t>
            </a:r>
            <a:endParaRPr lang="en-IN" sz="4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B9FE3-F822-F4E6-0101-1388F8DD3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12" y="1395663"/>
            <a:ext cx="5304380" cy="53099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75E23D-4CC9-EA1F-3F20-53982D7CD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60" y="1562100"/>
            <a:ext cx="5424440" cy="275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560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A9F5-4D90-D584-05E0-AFCDC7E4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E910-C119-168B-9950-BC4CA159D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0963"/>
            <a:ext cx="10515600" cy="31106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Common Pitfalls &amp; Best Practices</a:t>
            </a:r>
            <a:endParaRPr lang="en-IN" sz="4800" b="1" dirty="0"/>
          </a:p>
        </p:txBody>
      </p:sp>
      <p:sp>
        <p:nvSpPr>
          <p:cNvPr id="4" name="Google Shape;113;p2">
            <a:extLst>
              <a:ext uri="{FF2B5EF4-FFF2-40B4-BE49-F238E27FC236}">
                <a16:creationId xmlns:a16="http://schemas.microsoft.com/office/drawing/2014/main" id="{4EE3B741-15C8-9BFC-5E5D-611888E94C2B}"/>
              </a:ext>
            </a:extLst>
          </p:cNvPr>
          <p:cNvSpPr txBox="1"/>
          <p:nvPr/>
        </p:nvSpPr>
        <p:spPr>
          <a:xfrm>
            <a:off x="1024207" y="1659305"/>
            <a:ext cx="8803178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/>
              <a:t>Pitfalls to Avoid: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Overusing Inheritance</a:t>
            </a:r>
            <a:r>
              <a:rPr lang="en-IN" sz="2000" dirty="0"/>
              <a:t> → Creates fragile hierarchies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Confusing Aggregation with Composition</a:t>
            </a:r>
            <a:r>
              <a:rPr lang="en-IN" sz="2000" dirty="0"/>
              <a:t> → Wrong lifecycle assumptions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Circular Dependencies</a:t>
            </a:r>
            <a:r>
              <a:rPr lang="en-IN" sz="2000" dirty="0"/>
              <a:t> → Creates tightly coupled code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God Classes</a:t>
            </a:r>
            <a:r>
              <a:rPr lang="en-IN" sz="2000" dirty="0"/>
              <a:t> → Too many associations/responsibilities</a:t>
            </a:r>
          </a:p>
          <a:p>
            <a:endParaRPr lang="en-IN" sz="2000" dirty="0"/>
          </a:p>
          <a:p>
            <a:r>
              <a:rPr lang="en-IN" sz="2000" b="1" dirty="0"/>
              <a:t>Best Practices: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Use inheritance</a:t>
            </a:r>
            <a:r>
              <a:rPr lang="en-IN" sz="2000" dirty="0"/>
              <a:t> only for true "is-a" relationships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Prefer interfaces</a:t>
            </a:r>
            <a:r>
              <a:rPr lang="en-IN" sz="2000" dirty="0"/>
              <a:t> for polymorphism (Java/C#)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Apply Law of Demeter</a:t>
            </a:r>
            <a:r>
              <a:rPr lang="en-IN" sz="2000" dirty="0"/>
              <a:t>: "Talk to friends, not strangers"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Keep relationships minimal</a:t>
            </a:r>
            <a:r>
              <a:rPr lang="en-IN" sz="2000" dirty="0"/>
              <a:t> → Reduce coupling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sz="2000" b="1" dirty="0"/>
              <a:t>Document relationships</a:t>
            </a:r>
            <a:r>
              <a:rPr lang="en-IN" sz="2000" dirty="0"/>
              <a:t> clearly in design phase</a:t>
            </a:r>
          </a:p>
          <a:p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14472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EE9FD-4864-650A-CCAC-BEF3B0E2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AA7A-B6F0-5DDB-E387-6F2192F8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Quick Questions?</a:t>
            </a:r>
            <a:endParaRPr lang="en-IN" sz="5400" b="1" dirty="0"/>
          </a:p>
        </p:txBody>
      </p:sp>
      <p:sp>
        <p:nvSpPr>
          <p:cNvPr id="3" name="Google Shape;113;p2">
            <a:extLst>
              <a:ext uri="{FF2B5EF4-FFF2-40B4-BE49-F238E27FC236}">
                <a16:creationId xmlns:a16="http://schemas.microsoft.com/office/drawing/2014/main" id="{AF39FDB1-F161-F96B-D3E6-459B43C8DC16}"/>
              </a:ext>
            </a:extLst>
          </p:cNvPr>
          <p:cNvSpPr txBox="1"/>
          <p:nvPr/>
        </p:nvSpPr>
        <p:spPr>
          <a:xfrm>
            <a:off x="838200" y="2054256"/>
            <a:ext cx="8600243" cy="301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400" dirty="0"/>
              <a:t>What is the difference between a class and an object?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Why is abstraction important in large systems?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How does encapsulation improve security?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Why are interfaces preferred in scalable systems?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/>
              <a:t>Where should </a:t>
            </a:r>
            <a:r>
              <a:rPr lang="en-IN" sz="2400" dirty="0" err="1"/>
              <a:t>enums</a:t>
            </a:r>
            <a:r>
              <a:rPr lang="en-IN" sz="2400" dirty="0"/>
              <a:t> be used instead of constants?</a:t>
            </a:r>
          </a:p>
          <a:p>
            <a:r>
              <a:rPr lang="en-IN" sz="2400" dirty="0"/>
              <a:t>.</a:t>
            </a:r>
            <a:br>
              <a:rPr lang="en-IN" sz="2400" dirty="0"/>
            </a:br>
            <a:endParaRPr lang="en-IN" sz="2400" dirty="0"/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4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66796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3908-30AA-EE1E-86B1-18E5D08A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2539E-52D5-4356-8C7E-8017F6FB8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920"/>
            <a:ext cx="10515600" cy="31106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Calibri" panose="020F0502020204030204" pitchFamily="34" charset="0"/>
                <a:cs typeface="Calibri" panose="020F0502020204030204" pitchFamily="34" charset="0"/>
              </a:rPr>
              <a:t>Quick Questions?</a:t>
            </a:r>
            <a:endParaRPr lang="en-IN" sz="5400" b="1" dirty="0"/>
          </a:p>
        </p:txBody>
      </p:sp>
      <p:sp>
        <p:nvSpPr>
          <p:cNvPr id="5" name="Google Shape;113;p2">
            <a:extLst>
              <a:ext uri="{FF2B5EF4-FFF2-40B4-BE49-F238E27FC236}">
                <a16:creationId xmlns:a16="http://schemas.microsoft.com/office/drawing/2014/main" id="{90963036-0B8B-ED73-49BE-214FB193D4C9}"/>
              </a:ext>
            </a:extLst>
          </p:cNvPr>
          <p:cNvSpPr txBox="1"/>
          <p:nvPr/>
        </p:nvSpPr>
        <p:spPr>
          <a:xfrm>
            <a:off x="838200" y="1852028"/>
            <a:ext cx="8600243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Q:</a:t>
            </a:r>
            <a:r>
              <a:rPr lang="en-IN" sz="2400" dirty="0"/>
              <a:t> Can a class exist without objects?</a:t>
            </a:r>
            <a:br>
              <a:rPr lang="en-IN" sz="2400" dirty="0"/>
            </a:br>
            <a:r>
              <a:rPr lang="en-IN" sz="2400" b="1" dirty="0"/>
              <a:t>A:</a:t>
            </a:r>
            <a:r>
              <a:rPr lang="en-IN" sz="2400" dirty="0"/>
              <a:t> Yes, but it will not occupy memory.</a:t>
            </a:r>
          </a:p>
          <a:p>
            <a:r>
              <a:rPr lang="en-IN" sz="2400" b="1" dirty="0"/>
              <a:t>Q:</a:t>
            </a:r>
            <a:r>
              <a:rPr lang="en-IN" sz="2400" dirty="0"/>
              <a:t> Can interfaces contain method implementation?</a:t>
            </a:r>
            <a:br>
              <a:rPr lang="en-IN" sz="2400" dirty="0"/>
            </a:br>
            <a:r>
              <a:rPr lang="en-IN" sz="2400" b="1" dirty="0"/>
              <a:t>A:</a:t>
            </a:r>
            <a:r>
              <a:rPr lang="en-IN" sz="2400" dirty="0"/>
              <a:t> Depends on the language (e.g., default methods in Java).</a:t>
            </a:r>
          </a:p>
          <a:p>
            <a:r>
              <a:rPr lang="en-IN" sz="2400" b="1" dirty="0"/>
              <a:t>Q:</a:t>
            </a:r>
            <a:r>
              <a:rPr lang="en-IN" sz="2400" dirty="0"/>
              <a:t> Why is OOP important for system design?</a:t>
            </a:r>
            <a:br>
              <a:rPr lang="en-IN" sz="2400" dirty="0"/>
            </a:br>
            <a:r>
              <a:rPr lang="en-IN" sz="2400" b="1" dirty="0"/>
              <a:t>A:</a:t>
            </a:r>
            <a:r>
              <a:rPr lang="en-IN" sz="2400" dirty="0"/>
              <a:t> It enables modular, scalable, and maintainable architecture.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2374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2350</Words>
  <Application>Microsoft Office PowerPoint</Application>
  <PresentationFormat>Widescreen</PresentationFormat>
  <Paragraphs>426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quote-cjk-patch</vt:lpstr>
      <vt:lpstr>Wingdings</vt:lpstr>
      <vt:lpstr>Office Theme</vt:lpstr>
      <vt:lpstr>Unit-I Chapter 02</vt:lpstr>
      <vt:lpstr>Contents</vt:lpstr>
      <vt:lpstr>PowerPoint Presentation</vt:lpstr>
      <vt:lpstr>OOP - INTRODUCTION</vt:lpstr>
      <vt:lpstr>What is a Class? </vt:lpstr>
      <vt:lpstr>Why Classes Are Important </vt:lpstr>
      <vt:lpstr>What is an Object? </vt:lpstr>
      <vt:lpstr>Characteristics of an Object </vt:lpstr>
      <vt:lpstr>Abstraction – Core Concept </vt:lpstr>
      <vt:lpstr>Why Abstraction is Important </vt:lpstr>
      <vt:lpstr>Encapsulation – Core Concept</vt:lpstr>
      <vt:lpstr>Advantages of Encapsulation</vt:lpstr>
      <vt:lpstr>Interface - Definition</vt:lpstr>
      <vt:lpstr>Why Interfaces are Important?</vt:lpstr>
      <vt:lpstr>Enums - Definition</vt:lpstr>
      <vt:lpstr>Problem – without enum</vt:lpstr>
      <vt:lpstr>Examples:</vt:lpstr>
      <vt:lpstr>Examples:</vt:lpstr>
      <vt:lpstr>Why Enums?</vt:lpstr>
      <vt:lpstr>OOPs Applications</vt:lpstr>
      <vt:lpstr>OOPs Concept – System Design</vt:lpstr>
      <vt:lpstr>Introduction to advance OOP concepts</vt:lpstr>
      <vt:lpstr>Inheritence</vt:lpstr>
      <vt:lpstr>Inheritance - Types</vt:lpstr>
      <vt:lpstr>Inheritance – Advantage vs Limitation</vt:lpstr>
      <vt:lpstr>Polymorphism</vt:lpstr>
      <vt:lpstr>Polymorphism - Types</vt:lpstr>
      <vt:lpstr>Polymorphism - Types</vt:lpstr>
      <vt:lpstr>Class Relationships</vt:lpstr>
      <vt:lpstr>Association</vt:lpstr>
      <vt:lpstr>Association</vt:lpstr>
      <vt:lpstr>Composition</vt:lpstr>
      <vt:lpstr>Composition – Why it is preferred?</vt:lpstr>
      <vt:lpstr>Dependency</vt:lpstr>
      <vt:lpstr>Dependency – Role in System Design</vt:lpstr>
      <vt:lpstr>Comparison of Class Relationship</vt:lpstr>
      <vt:lpstr>Design Considerations</vt:lpstr>
      <vt:lpstr>Example – Library System</vt:lpstr>
      <vt:lpstr>Common Pitfalls &amp; Best Practices</vt:lpstr>
      <vt:lpstr>Quick Questions?</vt:lpstr>
      <vt:lpstr>Quick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6</cp:revision>
  <dcterms:created xsi:type="dcterms:W3CDTF">2026-01-05T09:08:20Z</dcterms:created>
  <dcterms:modified xsi:type="dcterms:W3CDTF">2026-01-09T10:07:28Z</dcterms:modified>
</cp:coreProperties>
</file>